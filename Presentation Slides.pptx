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300" r:id="rId3"/>
    <p:sldId id="291" r:id="rId4"/>
    <p:sldId id="297" r:id="rId5"/>
    <p:sldId id="287" r:id="rId6"/>
    <p:sldId id="288" r:id="rId7"/>
    <p:sldId id="267" r:id="rId8"/>
    <p:sldId id="289" r:id="rId9"/>
    <p:sldId id="274" r:id="rId10"/>
    <p:sldId id="298" r:id="rId11"/>
    <p:sldId id="283" r:id="rId12"/>
    <p:sldId id="299" r:id="rId13"/>
    <p:sldId id="281" r:id="rId14"/>
    <p:sldId id="282" r:id="rId15"/>
    <p:sldId id="292" r:id="rId16"/>
    <p:sldId id="293" r:id="rId17"/>
    <p:sldId id="294" r:id="rId18"/>
    <p:sldId id="295" r:id="rId19"/>
    <p:sldId id="284" r:id="rId20"/>
    <p:sldId id="290" r:id="rId21"/>
    <p:sldId id="296" r:id="rId22"/>
    <p:sldId id="264" r:id="rId23"/>
    <p:sldId id="26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67" autoAdjust="0"/>
    <p:restoredTop sz="92576" autoAdjust="0"/>
  </p:normalViewPr>
  <p:slideViewPr>
    <p:cSldViewPr snapToGrid="0">
      <p:cViewPr varScale="1">
        <p:scale>
          <a:sx n="89" d="100"/>
          <a:sy n="89" d="100"/>
        </p:scale>
        <p:origin x="3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kasri Nanban" userId="2312265880ebcb27" providerId="LiveId" clId="{2B960B8E-CC94-439B-A6D0-22301B73CB03}"/>
    <pc:docChg chg="undo custSel modSld">
      <pc:chgData name="Durkasri Nanban" userId="2312265880ebcb27" providerId="LiveId" clId="{2B960B8E-CC94-439B-A6D0-22301B73CB03}" dt="2025-12-18T06:35:45.076" v="80" actId="20577"/>
      <pc:docMkLst>
        <pc:docMk/>
      </pc:docMkLst>
      <pc:sldChg chg="modSp mod">
        <pc:chgData name="Durkasri Nanban" userId="2312265880ebcb27" providerId="LiveId" clId="{2B960B8E-CC94-439B-A6D0-22301B73CB03}" dt="2025-12-18T06:34:55.020" v="1" actId="123"/>
        <pc:sldMkLst>
          <pc:docMk/>
          <pc:sldMk cId="0" sldId="289"/>
        </pc:sldMkLst>
        <pc:spChg chg="mod">
          <ac:chgData name="Durkasri Nanban" userId="2312265880ebcb27" providerId="LiveId" clId="{2B960B8E-CC94-439B-A6D0-22301B73CB03}" dt="2025-12-18T06:34:55.020" v="1" actId="123"/>
          <ac:spMkLst>
            <pc:docMk/>
            <pc:sldMk cId="0" sldId="289"/>
            <ac:spMk id="7" creationId="{00000000-0000-0000-0000-000000000000}"/>
          </ac:spMkLst>
        </pc:spChg>
      </pc:sldChg>
      <pc:sldChg chg="modSp mod">
        <pc:chgData name="Durkasri Nanban" userId="2312265880ebcb27" providerId="LiveId" clId="{2B960B8E-CC94-439B-A6D0-22301B73CB03}" dt="2025-12-18T06:35:45.076" v="80" actId="20577"/>
        <pc:sldMkLst>
          <pc:docMk/>
          <pc:sldMk cId="0" sldId="295"/>
        </pc:sldMkLst>
        <pc:spChg chg="mod">
          <ac:chgData name="Durkasri Nanban" userId="2312265880ebcb27" providerId="LiveId" clId="{2B960B8E-CC94-439B-A6D0-22301B73CB03}" dt="2025-12-18T06:35:45.076" v="80" actId="20577"/>
          <ac:spMkLst>
            <pc:docMk/>
            <pc:sldMk cId="0" sldId="295"/>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42A2FB-80C5-418C-AB6B-D3A7BD18C0A7}"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342A2FB-80C5-418C-AB6B-D3A7BD18C0A7}"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342A2FB-80C5-418C-AB6B-D3A7BD18C0A7}" type="datetimeFigureOut">
              <a:rPr lang="en-IN" smtClean="0"/>
              <a:t>18-12-2025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342A2FB-80C5-418C-AB6B-D3A7BD18C0A7}" type="datetimeFigureOut">
              <a:rPr lang="en-IN" smtClean="0"/>
              <a:t>18-12-2025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2A2FB-80C5-418C-AB6B-D3A7BD18C0A7}" type="datetimeFigureOut">
              <a:rPr lang="en-IN" smtClean="0"/>
              <a:t>18-12-2025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42A2FB-80C5-418C-AB6B-D3A7BD18C0A7}"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42A2FB-80C5-418C-AB6B-D3A7BD18C0A7}"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2A2FB-80C5-418C-AB6B-D3A7BD18C0A7}" type="datetimeFigureOut">
              <a:rPr lang="en-IN" smtClean="0"/>
              <a:t>18-12-2025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49249-FC48-47B8-92FA-4330554B372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1.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7048" y="272099"/>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6" name="TextBox 5"/>
          <p:cNvSpPr txBox="1"/>
          <p:nvPr/>
        </p:nvSpPr>
        <p:spPr>
          <a:xfrm>
            <a:off x="621792" y="1794776"/>
            <a:ext cx="10762488" cy="984885"/>
          </a:xfrm>
          <a:prstGeom prst="rect">
            <a:avLst/>
          </a:prstGeom>
        </p:spPr>
        <p:txBody>
          <a:bodyPr wrap="square" lIns="0" tIns="0" rIns="0" bIns="0" rtlCol="0" anchor="t">
            <a:spAutoFit/>
          </a:bodyPr>
          <a:lstStyle/>
          <a:p>
            <a:pPr algn="ctr"/>
            <a:r>
              <a:rPr lang="en-US" sz="3200" b="1" dirty="0">
                <a:latin typeface="Times New Roman" panose="02020603050405020304" pitchFamily="18" charset="0"/>
                <a:cs typeface="Times New Roman" panose="02020603050405020304" pitchFamily="18" charset="0"/>
              </a:rPr>
              <a:t>INTELLIGENT MANAGEMENT AND CONTROL OF ELECTRICAL LOADS USING A MICROCONTROLLER</a:t>
            </a:r>
            <a:endParaRPr lang="en-IN" sz="32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7754112" y="4078340"/>
            <a:ext cx="4437888" cy="5172953"/>
          </a:xfrm>
          <a:prstGeom prst="rect">
            <a:avLst/>
          </a:prstGeom>
        </p:spPr>
        <p:txBody>
          <a:bodyPr wrap="square" lIns="0" tIns="0" rIns="0" bIns="0" rtlCol="0" anchor="t">
            <a:spAutoFit/>
          </a:bodyPr>
          <a:lstStyle/>
          <a:p>
            <a:pPr>
              <a:lnSpc>
                <a:spcPct val="150000"/>
              </a:lnSpc>
            </a:pPr>
            <a:r>
              <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rPr>
              <a:t>Presented By</a:t>
            </a:r>
          </a:p>
          <a:p>
            <a:pPr>
              <a:lnSpc>
                <a:spcPct val="150000"/>
              </a:lnSpc>
            </a:pPr>
            <a:r>
              <a:rPr lang="en-US" b="1" dirty="0">
                <a:latin typeface="Times New Roman" panose="02020603050405020304" pitchFamily="18" charset="0"/>
                <a:ea typeface="League Spartan"/>
                <a:cs typeface="Times New Roman" panose="02020603050405020304" pitchFamily="18" charset="0"/>
                <a:sym typeface="League Spartan"/>
              </a:rPr>
              <a:t>DHARSHINEE S </a:t>
            </a:r>
            <a:r>
              <a:rPr lang="en-US" b="1" dirty="0" err="1">
                <a:latin typeface="Times New Roman" panose="02020603050405020304" pitchFamily="18" charset="0"/>
                <a:ea typeface="League Spartan"/>
                <a:cs typeface="Times New Roman" panose="02020603050405020304" pitchFamily="18" charset="0"/>
                <a:sym typeface="League Spartan"/>
              </a:rPr>
              <a:t>S</a:t>
            </a:r>
            <a:r>
              <a:rPr lang="en-US" b="1" dirty="0">
                <a:latin typeface="Times New Roman" panose="02020603050405020304" pitchFamily="18" charset="0"/>
                <a:ea typeface="League Spartan"/>
                <a:cs typeface="Times New Roman" panose="02020603050405020304" pitchFamily="18" charset="0"/>
                <a:sym typeface="League Spartan"/>
              </a:rPr>
              <a:t> (927623BEC036)</a:t>
            </a:r>
          </a:p>
          <a:p>
            <a:pPr>
              <a:lnSpc>
                <a:spcPct val="150000"/>
              </a:lnSpc>
            </a:pPr>
            <a:r>
              <a:rPr lang="en-US" b="1" dirty="0">
                <a:latin typeface="Times New Roman" panose="02020603050405020304" pitchFamily="18" charset="0"/>
                <a:ea typeface="League Spartan"/>
                <a:cs typeface="Times New Roman" panose="02020603050405020304" pitchFamily="18" charset="0"/>
                <a:sym typeface="League Spartan"/>
              </a:rPr>
              <a:t>DURKA SRI N (927623BEC051)</a:t>
            </a:r>
          </a:p>
          <a:p>
            <a:pPr>
              <a:lnSpc>
                <a:spcPct val="150000"/>
              </a:lnSpc>
            </a:pPr>
            <a:r>
              <a:rPr lang="en-US" b="1" dirty="0">
                <a:latin typeface="Times New Roman" panose="02020603050405020304" pitchFamily="18" charset="0"/>
                <a:ea typeface="League Spartan"/>
                <a:cs typeface="Times New Roman" panose="02020603050405020304" pitchFamily="18" charset="0"/>
                <a:sym typeface="League Spartan"/>
              </a:rPr>
              <a:t>ELAMATHI S (927623BEC053)</a:t>
            </a:r>
          </a:p>
          <a:p>
            <a:pPr algn="ctr">
              <a:lnSpc>
                <a:spcPts val="7940"/>
              </a:lnSpc>
            </a:pPr>
            <a:r>
              <a:rPr lang="en-US" sz="1600" b="1" dirty="0">
                <a:solidFill>
                  <a:srgbClr val="004AAD"/>
                </a:solidFill>
                <a:latin typeface="Times New Roman" panose="02020603050405020304" pitchFamily="18" charset="0"/>
                <a:ea typeface="League Spartan"/>
                <a:cs typeface="Times New Roman" panose="02020603050405020304" pitchFamily="18" charset="0"/>
                <a:sym typeface="League Spartan"/>
              </a:rPr>
              <a:t>  </a:t>
            </a:r>
          </a:p>
          <a:p>
            <a:pPr algn="ctr">
              <a:lnSpc>
                <a:spcPts val="7940"/>
              </a:lnSpc>
            </a:pP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a:p>
            <a:r>
              <a:rPr lang="en-US" sz="1600" dirty="0">
                <a:latin typeface="Times New Roman" panose="02020603050405020304" pitchFamily="18" charset="0"/>
                <a:cs typeface="Times New Roman" panose="02020603050405020304" pitchFamily="18" charset="0"/>
              </a:rPr>
              <a:t>                                                       </a:t>
            </a:r>
          </a:p>
          <a:p>
            <a:pPr algn="ctr">
              <a:lnSpc>
                <a:spcPts val="7940"/>
              </a:lnSpc>
            </a:pP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p:txBody>
      </p:sp>
      <p:sp>
        <p:nvSpPr>
          <p:cNvPr id="8" name="TextBox 7"/>
          <p:cNvSpPr txBox="1"/>
          <p:nvPr/>
        </p:nvSpPr>
        <p:spPr>
          <a:xfrm>
            <a:off x="-301752" y="4137714"/>
            <a:ext cx="5020056" cy="5365750"/>
          </a:xfrm>
          <a:prstGeom prst="rect">
            <a:avLst/>
          </a:prstGeom>
        </p:spPr>
        <p:txBody>
          <a:bodyPr wrap="square" lIns="0" tIns="0" rIns="0" bIns="0" rtlCol="0" anchor="t">
            <a:spAutoFit/>
          </a:bodyPr>
          <a:lstStyle/>
          <a:p>
            <a:pPr algn="ctr">
              <a:lnSpc>
                <a:spcPct val="150000"/>
              </a:lnSpc>
            </a:pPr>
            <a:r>
              <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rPr>
              <a:t>Guided By</a:t>
            </a:r>
          </a:p>
          <a:p>
            <a:pPr algn="ctr">
              <a:lnSpc>
                <a:spcPct val="150000"/>
              </a:lnSpc>
            </a:pPr>
            <a:r>
              <a:rPr lang="en-US" sz="2400" b="1" dirty="0" err="1">
                <a:solidFill>
                  <a:schemeClr val="tx1">
                    <a:lumMod val="95000"/>
                    <a:lumOff val="5000"/>
                  </a:schemeClr>
                </a:solidFill>
                <a:latin typeface="Times New Roman" panose="02020603050405020304" pitchFamily="18" charset="0"/>
                <a:ea typeface="League Spartan"/>
                <a:cs typeface="Times New Roman" panose="02020603050405020304" pitchFamily="18" charset="0"/>
                <a:sym typeface="League Spartan"/>
              </a:rPr>
              <a:t>Dr.P</a:t>
            </a:r>
            <a:r>
              <a:rPr lang="en-US" sz="2400" b="1" dirty="0">
                <a:solidFill>
                  <a:schemeClr val="tx1">
                    <a:lumMod val="95000"/>
                    <a:lumOff val="5000"/>
                  </a:schemeClr>
                </a:solidFill>
                <a:latin typeface="Times New Roman" panose="02020603050405020304" pitchFamily="18" charset="0"/>
                <a:ea typeface="League Spartan"/>
                <a:cs typeface="Times New Roman" panose="02020603050405020304" pitchFamily="18" charset="0"/>
                <a:sym typeface="League Spartan"/>
              </a:rPr>
              <a:t> SAKTHI</a:t>
            </a:r>
          </a:p>
          <a:p>
            <a:pPr algn="ctr">
              <a:lnSpc>
                <a:spcPts val="7940"/>
              </a:lnSpc>
            </a:pP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a:p>
            <a:pPr algn="ctr">
              <a:lnSpc>
                <a:spcPts val="7940"/>
              </a:lnSpc>
            </a:pP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a:p>
            <a:pPr algn="ctr">
              <a:lnSpc>
                <a:spcPts val="7940"/>
              </a:lnSpc>
            </a:pP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a:p>
            <a:pPr algn="ctr">
              <a:lnSpc>
                <a:spcPts val="7940"/>
              </a:lnSpc>
            </a:pPr>
            <a:endParaRPr lang="en-US" sz="5670" b="1" dirty="0">
              <a:solidFill>
                <a:srgbClr val="004AAD"/>
              </a:solidFill>
              <a:latin typeface="League Spartan"/>
              <a:ea typeface="League Spartan"/>
              <a:cs typeface="League Spartan"/>
              <a:sym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860" y="1010920"/>
            <a:ext cx="10620375" cy="1325880"/>
          </a:xfrm>
        </p:spPr>
        <p:txBody>
          <a:bodyPr/>
          <a:lstStyle/>
          <a:p>
            <a:r>
              <a:rPr lang="en-US" sz="24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040765" y="1931199"/>
            <a:ext cx="10515600" cy="4351338"/>
          </a:xfrm>
        </p:spPr>
        <p:txBody>
          <a:bodyPr>
            <a:normAutofit fontScale="50000" lnSpcReduction="20000"/>
          </a:bodyPr>
          <a:lstStyle/>
          <a:p>
            <a:pPr marL="285750" lvl="0" indent="-285750" algn="just" eaLnBrk="0" fontAlgn="base" hangingPunct="0">
              <a:lnSpc>
                <a:spcPct val="170000"/>
              </a:lnSpc>
              <a:spcBef>
                <a:spcPct val="0"/>
              </a:spcBef>
              <a:spcAft>
                <a:spcPct val="0"/>
              </a:spcAft>
              <a:buFont typeface="Wingdings" panose="05000000000000000000" charset="0"/>
              <a:buChar char="Ø"/>
            </a:pPr>
            <a:r>
              <a:rPr lang="en-US" sz="3100" dirty="0">
                <a:latin typeface="Times New Roman" panose="02020603050405020304" pitchFamily="18" charset="0"/>
                <a:cs typeface="Times New Roman" panose="02020603050405020304" pitchFamily="18" charset="0"/>
              </a:rPr>
              <a:t>Modern electrical systems are becoming increasingly complex due to the growing number of electrical appliances and rising power demand in residential and industrial environments. Conventional protection devices such as fuses and circuit breakers disconnect the entire power supply during overload or fault conditions, leading to unnecessary power interruptions and inconvenience. </a:t>
            </a:r>
          </a:p>
          <a:p>
            <a:pPr marL="285750" lvl="0" indent="-285750" algn="just" eaLnBrk="0" fontAlgn="base" hangingPunct="0">
              <a:lnSpc>
                <a:spcPct val="170000"/>
              </a:lnSpc>
              <a:spcBef>
                <a:spcPct val="0"/>
              </a:spcBef>
              <a:spcAft>
                <a:spcPct val="0"/>
              </a:spcAft>
              <a:buFont typeface="Wingdings" panose="05000000000000000000" charset="0"/>
              <a:buChar char="Ø"/>
            </a:pPr>
            <a:r>
              <a:rPr lang="en-US" sz="3100" dirty="0">
                <a:latin typeface="Times New Roman" panose="02020603050405020304" pitchFamily="18" charset="0"/>
                <a:cs typeface="Times New Roman" panose="02020603050405020304" pitchFamily="18" charset="0"/>
              </a:rPr>
              <a:t> These traditional systems lack the ability to selectively identify and isolate faulty loads. </a:t>
            </a:r>
          </a:p>
          <a:p>
            <a:pPr marL="285750" lvl="0" indent="-285750" algn="just" eaLnBrk="0" fontAlgn="base" hangingPunct="0">
              <a:lnSpc>
                <a:spcPct val="170000"/>
              </a:lnSpc>
              <a:spcBef>
                <a:spcPct val="0"/>
              </a:spcBef>
              <a:spcAft>
                <a:spcPct val="0"/>
              </a:spcAft>
              <a:buFont typeface="Wingdings" panose="05000000000000000000" charset="0"/>
              <a:buChar char="Ø"/>
            </a:pPr>
            <a:r>
              <a:rPr lang="en-US" sz="3100" dirty="0">
                <a:latin typeface="Times New Roman" panose="02020603050405020304" pitchFamily="18" charset="0"/>
                <a:cs typeface="Times New Roman" panose="02020603050405020304" pitchFamily="18" charset="0"/>
              </a:rPr>
              <a:t>To overcome these limitations, intelligent load management systems using microcontrollers and IoT technologies have emerged as an effective solution.</a:t>
            </a:r>
          </a:p>
          <a:p>
            <a:pPr marL="285750" indent="-285750" algn="just" eaLnBrk="0" fontAlgn="base" hangingPunct="0">
              <a:lnSpc>
                <a:spcPct val="170000"/>
              </a:lnSpc>
              <a:spcBef>
                <a:spcPct val="0"/>
              </a:spcBef>
              <a:spcAft>
                <a:spcPct val="0"/>
              </a:spcAft>
              <a:buFont typeface="Wingdings" panose="05000000000000000000" charset="0"/>
              <a:buChar char="Ø"/>
            </a:pPr>
            <a:r>
              <a:rPr lang="en-US" sz="3100" dirty="0">
                <a:latin typeface="Times New Roman" panose="02020603050405020304" pitchFamily="18" charset="0"/>
                <a:cs typeface="Times New Roman" panose="02020603050405020304" pitchFamily="18" charset="0"/>
              </a:rPr>
              <a:t>This project focuses on developing a microcontroller-based system that continuously monitors electrical loads, detects abnormal current conditions, and selectively disconnects only the overloaded load while maintaining uninterrupted power to other loads. The integration of IoT enables real-time monitoring, alerts, and improved energy efficiency.</a:t>
            </a:r>
          </a:p>
          <a:p>
            <a:pPr marL="285750" lvl="0" indent="-285750" algn="just" eaLnBrk="0" fontAlgn="base" hangingPunct="0">
              <a:lnSpc>
                <a:spcPct val="160000"/>
              </a:lnSpc>
              <a:spcBef>
                <a:spcPct val="0"/>
              </a:spcBef>
              <a:spcAft>
                <a:spcPct val="0"/>
              </a:spcAft>
              <a:buFont typeface="Wingdings" panose="05000000000000000000" charset="0"/>
              <a:buChar char="Ø"/>
            </a:pPr>
            <a:endParaRPr lang="en-US" sz="1600" dirty="0">
              <a:latin typeface="Times New Roman" panose="02020603050405020304" pitchFamily="18" charset="0"/>
              <a:cs typeface="Times New Roman" panose="02020603050405020304" pitchFamily="18" charset="0"/>
            </a:endParaRPr>
          </a:p>
        </p:txBody>
      </p:sp>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7048" y="272099"/>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345" y="934085"/>
            <a:ext cx="10671810" cy="756920"/>
          </a:xfrm>
        </p:spPr>
        <p:txBody>
          <a:bodyPr>
            <a:normAutofit fontScale="90000"/>
          </a:bodyPr>
          <a:lstStyle/>
          <a:p>
            <a:br>
              <a:rPr lang="en-US" sz="2665" b="1" dirty="0">
                <a:solidFill>
                  <a:srgbClr val="FF0000"/>
                </a:solidFill>
                <a:latin typeface="Times New Roman" panose="02020603050405020304" pitchFamily="18" charset="0"/>
                <a:cs typeface="Times New Roman" panose="02020603050405020304" pitchFamily="18" charset="0"/>
              </a:rPr>
            </a:br>
            <a:br>
              <a:rPr lang="en-US" sz="2665" b="1" dirty="0">
                <a:solidFill>
                  <a:srgbClr val="FF0000"/>
                </a:solidFill>
                <a:latin typeface="Times New Roman" panose="02020603050405020304" pitchFamily="18" charset="0"/>
                <a:cs typeface="Times New Roman" panose="02020603050405020304" pitchFamily="18" charset="0"/>
              </a:rPr>
            </a:br>
            <a:br>
              <a:rPr lang="en-US" sz="2665" b="1" dirty="0">
                <a:solidFill>
                  <a:srgbClr val="FF0000"/>
                </a:solidFill>
                <a:latin typeface="Times New Roman" panose="02020603050405020304" pitchFamily="18" charset="0"/>
                <a:cs typeface="Times New Roman" panose="02020603050405020304" pitchFamily="18" charset="0"/>
              </a:rPr>
            </a:br>
            <a:r>
              <a:rPr lang="en-US" sz="2665" b="1" dirty="0">
                <a:solidFill>
                  <a:srgbClr val="FF0000"/>
                </a:solidFill>
                <a:latin typeface="Times New Roman" panose="02020603050405020304" pitchFamily="18" charset="0"/>
                <a:cs typeface="Times New Roman" panose="02020603050405020304" pitchFamily="18" charset="0"/>
              </a:rPr>
              <a:t>OBJECTIVE</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150000"/>
              </a:lnSpc>
              <a:buFont typeface="Wingdings" panose="05000000000000000000" charset="0"/>
              <a:buChar char="Ø"/>
            </a:pPr>
            <a:r>
              <a:rPr lang="en-US" altLang="en-US" sz="1800" dirty="0">
                <a:latin typeface="Times New Roman" panose="02020603050405020304" pitchFamily="18" charset="0"/>
                <a:cs typeface="Times New Roman" panose="02020603050405020304" pitchFamily="18" charset="0"/>
                <a:sym typeface="+mn-ea"/>
              </a:rPr>
              <a:t>The system continuously monitors the current drawn by each electrical load in real time to identify overload conditions or abnormal load behavior before it affects the overall electrical system.</a:t>
            </a:r>
          </a:p>
          <a:p>
            <a:pPr algn="just">
              <a:lnSpc>
                <a:spcPct val="150000"/>
              </a:lnSpc>
              <a:buFont typeface="Wingdings" panose="05000000000000000000" charset="0"/>
              <a:buChar char="Ø"/>
            </a:pPr>
            <a:r>
              <a:rPr lang="en-US" altLang="en-US" sz="1800" dirty="0">
                <a:latin typeface="Times New Roman" panose="02020603050405020304" pitchFamily="18" charset="0"/>
                <a:cs typeface="Times New Roman" panose="02020603050405020304" pitchFamily="18" charset="0"/>
                <a:sym typeface="+mn-ea"/>
              </a:rPr>
              <a:t>When an overloaded or faulty load is detected, the system automatically isolates that specific load using relay-based control, ensuring uninterrupted power supply to other connected loads.</a:t>
            </a:r>
          </a:p>
          <a:p>
            <a:pPr algn="just">
              <a:lnSpc>
                <a:spcPct val="150000"/>
              </a:lnSpc>
              <a:buFont typeface="Wingdings" panose="05000000000000000000" charset="0"/>
              <a:buChar char="Ø"/>
            </a:pPr>
            <a:r>
              <a:rPr lang="en-US" altLang="en-US" sz="1800" dirty="0">
                <a:latin typeface="Times New Roman" panose="02020603050405020304" pitchFamily="18" charset="0"/>
                <a:cs typeface="Times New Roman" panose="02020603050405020304" pitchFamily="18" charset="0"/>
                <a:sym typeface="+mn-ea"/>
              </a:rPr>
              <a:t>By improving selective load protection and real-time monitoring, the system enhances electrical safety, energy efficiency, and reliable operation while reducing power wastage, equipment damage, and unnecessary system downtime.</a:t>
            </a:r>
            <a:endParaRPr lang="en-US" sz="1800" dirty="0"/>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830" y="79514"/>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845" y="365125"/>
            <a:ext cx="10515600" cy="1325563"/>
          </a:xfrm>
        </p:spPr>
        <p:txBody>
          <a:bodyPr>
            <a:normAutofit fontScale="90000"/>
          </a:bodyPr>
          <a:lstStyle/>
          <a:p>
            <a:br>
              <a:rPr lang="en-US" dirty="0"/>
            </a:br>
            <a:br>
              <a:rPr lang="en-US" dirty="0"/>
            </a:br>
            <a:r>
              <a:rPr lang="en-US" sz="2665" b="1" dirty="0">
                <a:solidFill>
                  <a:srgbClr val="FF0000"/>
                </a:solidFill>
                <a:latin typeface="Times New Roman" panose="02020603050405020304" pitchFamily="18" charset="0"/>
                <a:cs typeface="Times New Roman" panose="02020603050405020304" pitchFamily="18" charset="0"/>
              </a:rPr>
              <a:t>SCOPE OF THE PROJECT</a:t>
            </a:r>
          </a:p>
        </p:txBody>
      </p:sp>
      <p:sp>
        <p:nvSpPr>
          <p:cNvPr id="3" name="Content Placeholder 2"/>
          <p:cNvSpPr>
            <a:spLocks noGrp="1"/>
          </p:cNvSpPr>
          <p:nvPr>
            <p:ph idx="1"/>
          </p:nvPr>
        </p:nvSpPr>
        <p:spPr/>
        <p:txBody>
          <a:bodyPr/>
          <a:lstStyle/>
          <a:p>
            <a:pPr marL="0" indent="0" algn="just">
              <a:lnSpc>
                <a:spcPct val="150000"/>
              </a:lnSpc>
              <a:buNone/>
            </a:pPr>
            <a:r>
              <a:rPr lang="en-US" altLang="en-US" sz="1800" dirty="0">
                <a:latin typeface="Times New Roman" panose="02020603050405020304" pitchFamily="18" charset="0"/>
                <a:cs typeface="Times New Roman" panose="02020603050405020304" pitchFamily="18" charset="0"/>
              </a:rPr>
              <a:t> 	</a:t>
            </a:r>
            <a:r>
              <a:rPr lang="en-US" sz="1800" dirty="0"/>
              <a:t> </a:t>
            </a:r>
            <a:r>
              <a:rPr lang="en-US" sz="1800" dirty="0">
                <a:latin typeface="Times New Roman" panose="02020603050405020304" pitchFamily="18" charset="0"/>
                <a:cs typeface="Times New Roman" panose="02020603050405020304" pitchFamily="18" charset="0"/>
              </a:rPr>
              <a:t>This project focuses on designing and implementing an intelligent electrical load management system using a microcontroller to monitor and control multiple electrical loads in real time. The system continuously measures the current drawn by each load and compares it with predefined threshold values to detect overload conditions. Upon detecting an abnormal current, the system selectively disconnects only the affected load while ensuring uninterrupted operation of other loads. The scope includes the integration of current sensors, relay-based load control, microcontroller-driven decision making, and real-time monitoring through a local display. Additionally, the system enables remote monitoring and alert notifications using an IoT module and cloud platform, enhancing safety, reliability, and efficient energy utilization.</a:t>
            </a:r>
          </a:p>
          <a:p>
            <a:pPr marL="0" indent="0" algn="just">
              <a:lnSpc>
                <a:spcPct val="150000"/>
              </a:lnSpc>
              <a:buNone/>
            </a:pPr>
            <a:endParaRPr lang="en-US" altLang="en-US" sz="1800" dirty="0">
              <a:latin typeface="Times New Roman" panose="02020603050405020304" pitchFamily="18" charset="0"/>
              <a:cs typeface="Times New Roman" panose="02020603050405020304" pitchFamily="18" charset="0"/>
            </a:endParaRP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830" y="79514"/>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845" y="1172210"/>
            <a:ext cx="3637280" cy="413385"/>
          </a:xfrm>
          <a:prstGeom prst="rect">
            <a:avLst/>
          </a:prstGeom>
          <a:noFill/>
        </p:spPr>
        <p:txBody>
          <a:bodyPr wrap="square" rtlCol="0" anchor="t">
            <a:noAutofit/>
          </a:bodyPr>
          <a:lstStyle/>
          <a:p>
            <a:r>
              <a:rPr lang="en-US" sz="2400" b="1">
                <a:solidFill>
                  <a:srgbClr val="FF0000"/>
                </a:solidFill>
                <a:latin typeface="Times New Roman" panose="02020603050405020304" pitchFamily="18" charset="0"/>
                <a:cs typeface="Times New Roman" panose="02020603050405020304" pitchFamily="18" charset="0"/>
                <a:sym typeface="+mn-ea"/>
              </a:rPr>
              <a:t>LITERATURE REVIEW</a:t>
            </a:r>
          </a:p>
        </p:txBody>
      </p:sp>
      <p:graphicFrame>
        <p:nvGraphicFramePr>
          <p:cNvPr id="9" name="Table 8"/>
          <p:cNvGraphicFramePr/>
          <p:nvPr>
            <p:custDataLst>
              <p:tags r:id="rId1"/>
            </p:custDataLst>
            <p:extLst>
              <p:ext uri="{D42A27DB-BD31-4B8C-83A1-F6EECF244321}">
                <p14:modId xmlns:p14="http://schemas.microsoft.com/office/powerpoint/2010/main" val="3711737341"/>
              </p:ext>
            </p:extLst>
          </p:nvPr>
        </p:nvGraphicFramePr>
        <p:xfrm>
          <a:off x="768350" y="1701801"/>
          <a:ext cx="10798314" cy="4683761"/>
        </p:xfrm>
        <a:graphic>
          <a:graphicData uri="http://schemas.openxmlformats.org/drawingml/2006/table">
            <a:tbl>
              <a:tblPr firstRow="1" bandRow="1">
                <a:tableStyleId>{5C22544A-7EE6-4342-B048-85BDC9FD1C3A}</a:tableStyleId>
              </a:tblPr>
              <a:tblGrid>
                <a:gridCol w="723960">
                  <a:extLst>
                    <a:ext uri="{9D8B030D-6E8A-4147-A177-3AD203B41FA5}">
                      <a16:colId xmlns:a16="http://schemas.microsoft.com/office/drawing/2014/main" val="20000"/>
                    </a:ext>
                  </a:extLst>
                </a:gridCol>
                <a:gridCol w="1613157">
                  <a:extLst>
                    <a:ext uri="{9D8B030D-6E8A-4147-A177-3AD203B41FA5}">
                      <a16:colId xmlns:a16="http://schemas.microsoft.com/office/drawing/2014/main" val="20001"/>
                    </a:ext>
                  </a:extLst>
                </a:gridCol>
                <a:gridCol w="2549932">
                  <a:extLst>
                    <a:ext uri="{9D8B030D-6E8A-4147-A177-3AD203B41FA5}">
                      <a16:colId xmlns:a16="http://schemas.microsoft.com/office/drawing/2014/main" val="20002"/>
                    </a:ext>
                  </a:extLst>
                </a:gridCol>
                <a:gridCol w="733604">
                  <a:extLst>
                    <a:ext uri="{9D8B030D-6E8A-4147-A177-3AD203B41FA5}">
                      <a16:colId xmlns:a16="http://schemas.microsoft.com/office/drawing/2014/main" val="20003"/>
                    </a:ext>
                  </a:extLst>
                </a:gridCol>
                <a:gridCol w="5177661">
                  <a:extLst>
                    <a:ext uri="{9D8B030D-6E8A-4147-A177-3AD203B41FA5}">
                      <a16:colId xmlns:a16="http://schemas.microsoft.com/office/drawing/2014/main" val="20004"/>
                    </a:ext>
                  </a:extLst>
                </a:gridCol>
              </a:tblGrid>
              <a:tr h="294328">
                <a:tc>
                  <a:txBody>
                    <a:bodyPr/>
                    <a:lstStyle/>
                    <a:p>
                      <a:pPr>
                        <a:buNone/>
                      </a:pPr>
                      <a:r>
                        <a:rPr lang="en-US" sz="1200"/>
                        <a:t>S.NO</a:t>
                      </a:r>
                    </a:p>
                  </a:txBody>
                  <a:tcPr/>
                </a:tc>
                <a:tc>
                  <a:txBody>
                    <a:bodyPr/>
                    <a:lstStyle/>
                    <a:p>
                      <a:pPr>
                        <a:buNone/>
                      </a:pPr>
                      <a:r>
                        <a:rPr lang="en-US" sz="1200"/>
                        <a:t>AUTHOR</a:t>
                      </a:r>
                    </a:p>
                  </a:txBody>
                  <a:tcPr/>
                </a:tc>
                <a:tc>
                  <a:txBody>
                    <a:bodyPr/>
                    <a:lstStyle/>
                    <a:p>
                      <a:pPr>
                        <a:buNone/>
                      </a:pPr>
                      <a:r>
                        <a:rPr lang="en-US" sz="1200"/>
                        <a:t>TITLE</a:t>
                      </a:r>
                    </a:p>
                  </a:txBody>
                  <a:tcPr/>
                </a:tc>
                <a:tc>
                  <a:txBody>
                    <a:bodyPr/>
                    <a:lstStyle/>
                    <a:p>
                      <a:pPr>
                        <a:buNone/>
                      </a:pPr>
                      <a:r>
                        <a:rPr lang="en-US" sz="1200"/>
                        <a:t>YEAR</a:t>
                      </a:r>
                    </a:p>
                  </a:txBody>
                  <a:tcPr/>
                </a:tc>
                <a:tc>
                  <a:txBody>
                    <a:bodyPr/>
                    <a:lstStyle/>
                    <a:p>
                      <a:pPr>
                        <a:buNone/>
                      </a:pPr>
                      <a:r>
                        <a:rPr lang="en-US" sz="1200" dirty="0"/>
                        <a:t>REMARKS</a:t>
                      </a:r>
                    </a:p>
                  </a:txBody>
                  <a:tcPr/>
                </a:tc>
                <a:extLst>
                  <a:ext uri="{0D108BD9-81ED-4DB2-BD59-A6C34878D82A}">
                    <a16:rowId xmlns:a16="http://schemas.microsoft.com/office/drawing/2014/main" val="10000"/>
                  </a:ext>
                </a:extLst>
              </a:tr>
              <a:tr h="839509">
                <a:tc>
                  <a:txBody>
                    <a:bodyPr/>
                    <a:lstStyle/>
                    <a:p>
                      <a:pPr>
                        <a:buNone/>
                      </a:pPr>
                      <a:r>
                        <a:rPr lang="en-US" sz="1200" dirty="0">
                          <a:latin typeface="Times New Roman" panose="02020603050405020304" pitchFamily="18" charset="0"/>
                          <a:cs typeface="Times New Roman" panose="02020603050405020304" pitchFamily="18" charset="0"/>
                        </a:rPr>
                        <a:t>[1]</a:t>
                      </a:r>
                    </a:p>
                  </a:txBody>
                  <a:tcPr/>
                </a:tc>
                <a:tc>
                  <a:txBody>
                    <a:bodyPr/>
                    <a:lstStyle/>
                    <a:p>
                      <a:pPr>
                        <a:buNone/>
                      </a:pPr>
                      <a:r>
                        <a:rPr lang="en-US" altLang="en-US" sz="1200" dirty="0">
                          <a:latin typeface="Times New Roman" panose="02020603050405020304" pitchFamily="18" charset="0"/>
                          <a:cs typeface="Times New Roman" panose="02020603050405020304" pitchFamily="18" charset="0"/>
                        </a:rPr>
                        <a:t>Yi Zong et al.</a:t>
                      </a:r>
                    </a:p>
                  </a:txBody>
                  <a:tcPr/>
                </a:tc>
                <a:tc>
                  <a:txBody>
                    <a:bodyPr/>
                    <a:lstStyle/>
                    <a:p>
                      <a:pPr algn="l">
                        <a:buNone/>
                      </a:pPr>
                      <a:r>
                        <a:rPr lang="en-US" altLang="en-US" sz="1200" dirty="0">
                          <a:latin typeface="Times New Roman" panose="02020603050405020304" pitchFamily="18" charset="0"/>
                          <a:cs typeface="Times New Roman" panose="02020603050405020304" pitchFamily="18" charset="0"/>
                        </a:rPr>
                        <a:t>Active Load Management in an Intelligent Building Using Model Predictive Control</a:t>
                      </a:r>
                    </a:p>
                  </a:txBody>
                  <a:tcPr/>
                </a:tc>
                <a:tc>
                  <a:txBody>
                    <a:bodyPr/>
                    <a:lstStyle/>
                    <a:p>
                      <a:pPr>
                        <a:buNone/>
                      </a:pPr>
                      <a:r>
                        <a:rPr lang="en-US" altLang="en-US" sz="1200" dirty="0">
                          <a:latin typeface="Times New Roman" panose="02020603050405020304" pitchFamily="18" charset="0"/>
                          <a:cs typeface="Times New Roman" panose="02020603050405020304" pitchFamily="18" charset="0"/>
                        </a:rPr>
                        <a:t>2011</a:t>
                      </a:r>
                    </a:p>
                  </a:txBody>
                  <a:tcPr/>
                </a:tc>
                <a:tc>
                  <a:txBody>
                    <a:bodyPr/>
                    <a:lstStyle/>
                    <a:p>
                      <a:pPr algn="just">
                        <a:buNone/>
                      </a:pPr>
                      <a:r>
                        <a:rPr lang="en-US" altLang="en-US" sz="1200" dirty="0">
                          <a:latin typeface="Times New Roman" panose="02020603050405020304" pitchFamily="18" charset="0"/>
                          <a:cs typeface="Times New Roman" panose="02020603050405020304" pitchFamily="18" charset="0"/>
                        </a:rPr>
                        <a:t>Applies model predictive control techniques for optimized load scheduling in intelligent buildings, improving energy efficiency and power distribution.</a:t>
                      </a:r>
                    </a:p>
                  </a:txBody>
                  <a:tcPr/>
                </a:tc>
                <a:extLst>
                  <a:ext uri="{0D108BD9-81ED-4DB2-BD59-A6C34878D82A}">
                    <a16:rowId xmlns:a16="http://schemas.microsoft.com/office/drawing/2014/main" val="10001"/>
                  </a:ext>
                </a:extLst>
              </a:tr>
              <a:tr h="839509">
                <a:tc>
                  <a:txBody>
                    <a:bodyPr/>
                    <a:lstStyle/>
                    <a:p>
                      <a:pPr algn="just">
                        <a:buNone/>
                      </a:pPr>
                      <a:r>
                        <a:rPr lang="en-US" sz="1200">
                          <a:latin typeface="Times New Roman" panose="02020603050405020304" pitchFamily="18" charset="0"/>
                          <a:cs typeface="Times New Roman" panose="02020603050405020304" pitchFamily="18" charset="0"/>
                        </a:rPr>
                        <a:t>[2]</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200" dirty="0">
                          <a:latin typeface="Times New Roman" panose="02020603050405020304" pitchFamily="18" charset="0"/>
                          <a:cs typeface="Times New Roman" panose="02020603050405020304" pitchFamily="18" charset="0"/>
                        </a:rPr>
                        <a:t>F. D’Agostino et al.</a:t>
                      </a:r>
                    </a:p>
                    <a:p>
                      <a:pPr algn="just">
                        <a:buNone/>
                      </a:pPr>
                      <a:endParaRPr lang="en-US"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200" dirty="0">
                          <a:latin typeface="Times New Roman" panose="02020603050405020304" pitchFamily="18" charset="0"/>
                          <a:cs typeface="Times New Roman" panose="02020603050405020304" pitchFamily="18" charset="0"/>
                        </a:rPr>
                        <a:t>Smart Management of Demand in Naval Applications</a:t>
                      </a:r>
                    </a:p>
                    <a:p>
                      <a:pPr algn="just">
                        <a:buNone/>
                      </a:pPr>
                      <a:endParaRPr lang="en-US" altLang="en-US" sz="12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1200" dirty="0">
                          <a:latin typeface="Times New Roman" panose="02020603050405020304" pitchFamily="18" charset="0"/>
                          <a:cs typeface="Times New Roman" panose="02020603050405020304" pitchFamily="18" charset="0"/>
                        </a:rPr>
                        <a:t>2015</a:t>
                      </a:r>
                    </a:p>
                  </a:txBody>
                  <a:tcPr/>
                </a:tc>
                <a:tc>
                  <a:txBody>
                    <a:bodyPr/>
                    <a:lstStyle/>
                    <a:p>
                      <a:pPr algn="just">
                        <a:buNone/>
                      </a:pPr>
                      <a:r>
                        <a:rPr lang="en-US" altLang="en-US" sz="1200" dirty="0">
                          <a:latin typeface="Times New Roman" panose="02020603050405020304" pitchFamily="18" charset="0"/>
                          <a:cs typeface="Times New Roman" panose="02020603050405020304" pitchFamily="18" charset="0"/>
                        </a:rPr>
                        <a:t>Discusses distributed and decentralized load control strategies for naval power systems to reduce disturbances caused by variable load conditions.</a:t>
                      </a:r>
                    </a:p>
                  </a:txBody>
                  <a:tcPr/>
                </a:tc>
                <a:extLst>
                  <a:ext uri="{0D108BD9-81ED-4DB2-BD59-A6C34878D82A}">
                    <a16:rowId xmlns:a16="http://schemas.microsoft.com/office/drawing/2014/main" val="10002"/>
                  </a:ext>
                </a:extLst>
              </a:tr>
              <a:tr h="647621">
                <a:tc>
                  <a:txBody>
                    <a:bodyPr/>
                    <a:lstStyle/>
                    <a:p>
                      <a:pPr algn="just">
                        <a:buNone/>
                      </a:pPr>
                      <a:r>
                        <a:rPr lang="en-US" sz="1200">
                          <a:latin typeface="Times New Roman" panose="02020603050405020304" pitchFamily="18" charset="0"/>
                          <a:cs typeface="Times New Roman" panose="02020603050405020304" pitchFamily="18" charset="0"/>
                        </a:rPr>
                        <a:t>[3]</a:t>
                      </a:r>
                    </a:p>
                  </a:txBody>
                  <a:tcPr/>
                </a:tc>
                <a:tc>
                  <a:txBody>
                    <a:bodyPr/>
                    <a:lstStyle/>
                    <a:p>
                      <a:pPr algn="just">
                        <a:buNone/>
                      </a:pPr>
                      <a:r>
                        <a:rPr lang="da-DK" altLang="en-US" sz="1200" dirty="0">
                          <a:latin typeface="Times New Roman" panose="02020603050405020304" pitchFamily="18" charset="0"/>
                          <a:cs typeface="Times New Roman" panose="02020603050405020304" pitchFamily="18" charset="0"/>
                        </a:rPr>
                        <a:t>R. S. Vignesh et al.</a:t>
                      </a:r>
                      <a:endParaRPr lang="en-US" altLang="en-US" sz="1200" dirty="0">
                        <a:latin typeface="Times New Roman" panose="02020603050405020304" pitchFamily="18" charset="0"/>
                        <a:cs typeface="Times New Roman" panose="02020603050405020304" pitchFamily="18" charset="0"/>
                      </a:endParaRPr>
                    </a:p>
                  </a:txBody>
                  <a:tcPr/>
                </a:tc>
                <a:tc>
                  <a:txBody>
                    <a:bodyPr/>
                    <a:lstStyle/>
                    <a:p>
                      <a:pPr algn="just">
                        <a:buNone/>
                      </a:pPr>
                      <a:r>
                        <a:rPr lang="en-US" altLang="en-US" sz="1200" dirty="0">
                          <a:latin typeface="Times New Roman" panose="02020603050405020304" pitchFamily="18" charset="0"/>
                          <a:cs typeface="Times New Roman" panose="02020603050405020304" pitchFamily="18" charset="0"/>
                        </a:rPr>
                        <a:t>GSM Based Electrical Load Control System for Home Applications</a:t>
                      </a:r>
                    </a:p>
                  </a:txBody>
                  <a:tcPr/>
                </a:tc>
                <a:tc>
                  <a:txBody>
                    <a:bodyPr/>
                    <a:lstStyle/>
                    <a:p>
                      <a:pPr algn="just">
                        <a:buNone/>
                      </a:pPr>
                      <a:r>
                        <a:rPr lang="en-US" sz="1200" dirty="0">
                          <a:latin typeface="Times New Roman" panose="02020603050405020304" pitchFamily="18" charset="0"/>
                          <a:cs typeface="Times New Roman" panose="02020603050405020304" pitchFamily="18" charset="0"/>
                        </a:rPr>
                        <a:t>2022</a:t>
                      </a:r>
                    </a:p>
                  </a:txBody>
                  <a:tcPr/>
                </a:tc>
                <a:tc>
                  <a:txBody>
                    <a:bodyPr/>
                    <a:lstStyle/>
                    <a:p>
                      <a:pPr algn="just">
                        <a:buNone/>
                      </a:pPr>
                      <a:r>
                        <a:rPr lang="en-US" altLang="en-US" sz="1200" dirty="0">
                          <a:latin typeface="Times New Roman" panose="02020603050405020304" pitchFamily="18" charset="0"/>
                          <a:cs typeface="Times New Roman" panose="02020603050405020304" pitchFamily="18" charset="0"/>
                        </a:rPr>
                        <a:t>Introduces a GSM-based system for remote load control in home applications, enabling flexible switching of electrical loads through wireless communication.</a:t>
                      </a:r>
                    </a:p>
                  </a:txBody>
                  <a:tcPr/>
                </a:tc>
                <a:extLst>
                  <a:ext uri="{0D108BD9-81ED-4DB2-BD59-A6C34878D82A}">
                    <a16:rowId xmlns:a16="http://schemas.microsoft.com/office/drawing/2014/main" val="10003"/>
                  </a:ext>
                </a:extLst>
              </a:tr>
              <a:tr h="1031397">
                <a:tc>
                  <a:txBody>
                    <a:bodyPr/>
                    <a:lstStyle/>
                    <a:p>
                      <a:pPr algn="just">
                        <a:buNone/>
                      </a:pPr>
                      <a:r>
                        <a:rPr lang="en-US" sz="1200" dirty="0">
                          <a:latin typeface="Times New Roman" panose="02020603050405020304" pitchFamily="18" charset="0"/>
                          <a:cs typeface="Times New Roman" panose="02020603050405020304" pitchFamily="18" charset="0"/>
                        </a:rPr>
                        <a:t>[4]</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200" dirty="0">
                          <a:latin typeface="Times New Roman" panose="02020603050405020304" pitchFamily="18" charset="0"/>
                          <a:cs typeface="Times New Roman" panose="02020603050405020304" pitchFamily="18" charset="0"/>
                        </a:rPr>
                        <a:t>R. Islam et al.</a:t>
                      </a:r>
                    </a:p>
                    <a:p>
                      <a:pPr algn="just">
                        <a:buNone/>
                      </a:pPr>
                      <a:endParaRPr lang="en-US"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200" dirty="0">
                          <a:latin typeface="Times New Roman" panose="02020603050405020304" pitchFamily="18" charset="0"/>
                          <a:cs typeface="Times New Roman" panose="02020603050405020304" pitchFamily="18" charset="0"/>
                        </a:rPr>
                        <a:t>Design and Development of a Smart Billing Meter for Load Management and Tampering Alerts</a:t>
                      </a:r>
                    </a:p>
                    <a:p>
                      <a:pPr algn="just">
                        <a:buNone/>
                      </a:pPr>
                      <a:endParaRPr lang="en-US" altLang="en-US" sz="12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1200" dirty="0">
                          <a:latin typeface="Times New Roman" panose="02020603050405020304" pitchFamily="18" charset="0"/>
                          <a:cs typeface="Times New Roman" panose="02020603050405020304" pitchFamily="18" charset="0"/>
                        </a:rPr>
                        <a:t>2024</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200" dirty="0">
                          <a:latin typeface="Times New Roman" panose="02020603050405020304" pitchFamily="18" charset="0"/>
                          <a:cs typeface="Times New Roman" panose="02020603050405020304" pitchFamily="18" charset="0"/>
                        </a:rPr>
                        <a:t>Presents a smart billing meter with tamper detection and load monitoring, emphasizing secure energy usage data and alert mechanisms to enhance load management efficiency.</a:t>
                      </a:r>
                    </a:p>
                    <a:p>
                      <a:pPr algn="just">
                        <a:buNone/>
                      </a:pPr>
                      <a:endParaRPr lang="en-US"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1031397">
                <a:tc>
                  <a:txBody>
                    <a:bodyPr/>
                    <a:lstStyle/>
                    <a:p>
                      <a:pPr algn="just">
                        <a:buNone/>
                      </a:pPr>
                      <a:r>
                        <a:rPr lang="en-US" sz="120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200" dirty="0">
                          <a:latin typeface="Times New Roman" panose="02020603050405020304" pitchFamily="18" charset="0"/>
                          <a:cs typeface="Times New Roman" panose="02020603050405020304" pitchFamily="18" charset="0"/>
                        </a:rPr>
                        <a:t>D. C. Teja et al.</a:t>
                      </a:r>
                      <a:endParaRPr lang="en-US" altLang="en-US" sz="1200" dirty="0">
                        <a:latin typeface="Times New Roman" panose="02020603050405020304" pitchFamily="18" charset="0"/>
                        <a:cs typeface="Times New Roman" panose="02020603050405020304" pitchFamily="18" charset="0"/>
                      </a:endParaRPr>
                    </a:p>
                    <a:p>
                      <a:pPr algn="l">
                        <a:buNone/>
                      </a:pPr>
                      <a:endParaRPr lang="en-US"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IoT-Enabled Smart Home Management System Featuring Fault Detection and Remote Monitoring</a:t>
                      </a:r>
                      <a:endParaRPr lang="en-US" altLang="en-US" sz="1200" dirty="0">
                        <a:latin typeface="Times New Roman" panose="02020603050405020304" pitchFamily="18" charset="0"/>
                        <a:cs typeface="Times New Roman" panose="02020603050405020304" pitchFamily="18" charset="0"/>
                      </a:endParaRPr>
                    </a:p>
                    <a:p>
                      <a:pPr algn="just">
                        <a:buNone/>
                      </a:pPr>
                      <a:endParaRPr lang="en-US" altLang="en-US" sz="12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1200" dirty="0">
                          <a:latin typeface="Times New Roman" panose="02020603050405020304" pitchFamily="18" charset="0"/>
                          <a:cs typeface="Times New Roman" panose="02020603050405020304" pitchFamily="18" charset="0"/>
                        </a:rPr>
                        <a:t>2025</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Proposes an IoT-based smart home system capable of real-time fault detection and remote monitoring, highlighting the importance of continuous load supervision for improving system reliability and user awareness.</a:t>
                      </a:r>
                      <a:endParaRPr lang="en-US" altLang="en-US" sz="1200" dirty="0">
                        <a:latin typeface="Times New Roman" panose="02020603050405020304" pitchFamily="18" charset="0"/>
                        <a:cs typeface="Times New Roman" panose="02020603050405020304" pitchFamily="18" charset="0"/>
                      </a:endParaRPr>
                    </a:p>
                    <a:p>
                      <a:pPr algn="just">
                        <a:buNone/>
                      </a:pPr>
                      <a:endParaRPr lang="en-US"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1480" y="1179195"/>
            <a:ext cx="4324350" cy="385445"/>
          </a:xfrm>
          <a:prstGeom prst="rect">
            <a:avLst/>
          </a:prstGeom>
          <a:noFill/>
        </p:spPr>
        <p:txBody>
          <a:bodyPr wrap="square" rtlCol="0">
            <a:noAutofit/>
          </a:bodyPr>
          <a:lstStyle/>
          <a:p>
            <a:r>
              <a:rPr lang="en-US" sz="2400" b="1">
                <a:solidFill>
                  <a:srgbClr val="FF0000"/>
                </a:solidFill>
                <a:latin typeface="Times New Roman" panose="02020603050405020304" pitchFamily="18" charset="0"/>
                <a:cs typeface="Times New Roman" panose="02020603050405020304" pitchFamily="18" charset="0"/>
                <a:sym typeface="+mn-ea"/>
              </a:rPr>
              <a:t>EXISTING SYSTEM</a:t>
            </a:r>
            <a:endParaRPr lang="en-US" sz="2400"/>
          </a:p>
        </p:txBody>
      </p:sp>
      <p:sp>
        <p:nvSpPr>
          <p:cNvPr id="7" name="Text Box 6"/>
          <p:cNvSpPr txBox="1"/>
          <p:nvPr/>
        </p:nvSpPr>
        <p:spPr>
          <a:xfrm>
            <a:off x="1426210" y="5055396"/>
            <a:ext cx="3009265" cy="36830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EXISTING SYSTEM</a:t>
            </a:r>
          </a:p>
        </p:txBody>
      </p:sp>
      <p:sp>
        <p:nvSpPr>
          <p:cNvPr id="8" name="Text Box 7"/>
          <p:cNvSpPr txBox="1"/>
          <p:nvPr/>
        </p:nvSpPr>
        <p:spPr>
          <a:xfrm>
            <a:off x="5605144" y="2057400"/>
            <a:ext cx="6175375" cy="4366260"/>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Fault Detection Method: </a:t>
            </a:r>
            <a:r>
              <a:rPr lang="en-US" sz="1400" dirty="0">
                <a:latin typeface="Times New Roman" panose="02020603050405020304" pitchFamily="18" charset="0"/>
                <a:cs typeface="Times New Roman" panose="02020603050405020304" pitchFamily="18" charset="0"/>
              </a:rPr>
              <a:t>Based on conventional protection devices such as fuses and MCBs, which respond only to excessive current or short-circuit conditions without intelligent analysis.</a:t>
            </a:r>
          </a:p>
          <a:p>
            <a:pPr marL="285750" indent="-285750" algn="just">
              <a:lnSpc>
                <a:spcPct val="150000"/>
              </a:lnSpc>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Fault Isolation Type: </a:t>
            </a:r>
            <a:r>
              <a:rPr lang="en-US" sz="1400" dirty="0">
                <a:latin typeface="Times New Roman" panose="02020603050405020304" pitchFamily="18" charset="0"/>
                <a:cs typeface="Times New Roman" panose="02020603050405020304" pitchFamily="18" charset="0"/>
              </a:rPr>
              <a:t>Full supply shutdown, where the entire electrical line is disconnected during fault or overload conditions.</a:t>
            </a:r>
          </a:p>
          <a:p>
            <a:pPr marL="285750" indent="-285750" algn="just">
              <a:lnSpc>
                <a:spcPct val="150000"/>
              </a:lnSpc>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Power Continuity: </a:t>
            </a:r>
            <a:r>
              <a:rPr lang="en-US" sz="1400" dirty="0">
                <a:latin typeface="Times New Roman" panose="02020603050405020304" pitchFamily="18" charset="0"/>
                <a:cs typeface="Times New Roman" panose="02020603050405020304" pitchFamily="18" charset="0"/>
              </a:rPr>
              <a:t>Completely interrupted for all connected loads when a fault occurs.</a:t>
            </a:r>
          </a:p>
          <a:p>
            <a:pPr marL="285750" indent="-285750" algn="just">
              <a:lnSpc>
                <a:spcPct val="150000"/>
              </a:lnSpc>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Accuracy of Fault Detection: </a:t>
            </a:r>
            <a:r>
              <a:rPr lang="en-US" sz="1400" dirty="0">
                <a:latin typeface="Times New Roman" panose="02020603050405020304" pitchFamily="18" charset="0"/>
                <a:cs typeface="Times New Roman" panose="02020603050405020304" pitchFamily="18" charset="0"/>
              </a:rPr>
              <a:t>Low to moderate, as faults are detected only after reaching critical current levels.</a:t>
            </a:r>
          </a:p>
          <a:p>
            <a:pPr marL="285750" indent="-285750" algn="just">
              <a:lnSpc>
                <a:spcPct val="150000"/>
              </a:lnSpc>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Safety and Reliability: </a:t>
            </a:r>
            <a:r>
              <a:rPr lang="en-US" sz="1400" dirty="0">
                <a:latin typeface="Times New Roman" panose="02020603050405020304" pitchFamily="18" charset="0"/>
                <a:cs typeface="Times New Roman" panose="02020603050405020304" pitchFamily="18" charset="0"/>
              </a:rPr>
              <a:t>Moderate, providing basic protection but lacking selective control and real-time monitoring.</a:t>
            </a:r>
          </a:p>
          <a:p>
            <a:pPr marL="285750" indent="-285750" algn="just">
              <a:lnSpc>
                <a:spcPct val="150000"/>
              </a:lnSpc>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Maintenance Approach: </a:t>
            </a:r>
            <a:r>
              <a:rPr lang="en-US" sz="1400" dirty="0">
                <a:latin typeface="Times New Roman" panose="02020603050405020304" pitchFamily="18" charset="0"/>
                <a:cs typeface="Times New Roman" panose="02020603050405020304" pitchFamily="18" charset="0"/>
              </a:rPr>
              <a:t>Reactive maintenance, where action is taken only after a fault or failure occurs.</a:t>
            </a:r>
          </a:p>
        </p:txBody>
      </p:sp>
      <p:pic>
        <p:nvPicPr>
          <p:cNvPr id="10" name="Picture 9" descr="A diagram of a device&#10;&#10;AI-generated content may be incorrect.">
            <a:extLst>
              <a:ext uri="{FF2B5EF4-FFF2-40B4-BE49-F238E27FC236}">
                <a16:creationId xmlns:a16="http://schemas.microsoft.com/office/drawing/2014/main" id="{E9BDF430-ACB1-7E8C-D484-8AC81FBEA4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546" y="2781510"/>
            <a:ext cx="4907346" cy="16422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71939" y="1093165"/>
            <a:ext cx="5576163" cy="460375"/>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  PROBLEM STATEMENT</a:t>
            </a:r>
          </a:p>
        </p:txBody>
      </p:sp>
      <p:pic>
        <p:nvPicPr>
          <p:cNvPr id="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0"/>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889" y="170920"/>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06579" y="1655921"/>
            <a:ext cx="10378439" cy="3648884"/>
          </a:xfrm>
          <a:prstGeom prst="rect">
            <a:avLst/>
          </a:prstGeom>
          <a:noFill/>
        </p:spPr>
        <p:txBody>
          <a:bodyPr wrap="square">
            <a:spAutoFit/>
          </a:bodyPr>
          <a:lstStyle/>
          <a:p>
            <a:pPr marL="0" indent="0" algn="just">
              <a:buNone/>
            </a:pPr>
            <a:r>
              <a:rPr lang="en-US" dirty="0"/>
              <a:t> 	</a:t>
            </a:r>
          </a:p>
          <a:p>
            <a:pPr algn="just">
              <a:lnSpc>
                <a:spcPct val="150000"/>
              </a:lnSpc>
            </a:pPr>
            <a:r>
              <a:rPr lang="en-US"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Conventional electrical protection systems such as fuses and MCBs disconnect the entire power supply during overload or fault conditions, resulting in unnecessary power interruptions and inconvenience to users. These systems lack real-time monitoring, selective fault isolation, and intelligent decision-making capabilities. As a result, even a single faulty load can cause complete system shutdown, reduced reliability, delayed fault detection, and inefficient energy utilization. There is a need for an intelligent load management system that can continuously monitor electrical loads, accurately detect abnormal conditions, selectively isolate only the faulty load, and ensure uninterrupted power supply to critical loads while improving safety and energy efficiency.</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6"/>
          <p:cNvSpPr txBox="1"/>
          <p:nvPr/>
        </p:nvSpPr>
        <p:spPr>
          <a:xfrm>
            <a:off x="1284352" y="1964690"/>
            <a:ext cx="8641080" cy="3741409"/>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Fault Detection Method: </a:t>
            </a:r>
            <a:r>
              <a:rPr lang="en-US" sz="1600" dirty="0">
                <a:latin typeface="Times New Roman" panose="02020603050405020304" pitchFamily="18" charset="0"/>
                <a:cs typeface="Times New Roman" panose="02020603050405020304" pitchFamily="18" charset="0"/>
              </a:rPr>
              <a:t>Based on real-time current monitoring using current sensors and microcontroller-based threshold analysis.</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Fault Isolation Type: </a:t>
            </a:r>
            <a:r>
              <a:rPr lang="en-US" sz="1600" dirty="0">
                <a:latin typeface="Times New Roman" panose="02020603050405020304" pitchFamily="18" charset="0"/>
                <a:cs typeface="Times New Roman" panose="02020603050405020304" pitchFamily="18" charset="0"/>
              </a:rPr>
              <a:t>Only the faulty or overloaded electrical load is selectively isolated using relay-based control.</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Power Continuity: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Seamless and uninterrupted for all healthy and critical loads.</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Accuracy of Fault Detection: </a:t>
            </a:r>
            <a:r>
              <a:rPr lang="en-US" sz="1600" dirty="0">
                <a:latin typeface="Times New Roman" panose="02020603050405020304" pitchFamily="18" charset="0"/>
                <a:cs typeface="Times New Roman" panose="02020603050405020304" pitchFamily="18" charset="0"/>
              </a:rPr>
              <a:t>High, as abnormal current conditions are detected at an early stage.</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Safety and Reliability: </a:t>
            </a:r>
            <a:r>
              <a:rPr lang="en-US" sz="1600" dirty="0">
                <a:latin typeface="Times New Roman" panose="02020603050405020304" pitchFamily="18" charset="0"/>
                <a:cs typeface="Times New Roman" panose="02020603050405020304" pitchFamily="18" charset="0"/>
              </a:rPr>
              <a:t>Highly improved due to selective tripping and intelligent monitoring.</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Maintenance Approach: </a:t>
            </a:r>
            <a:r>
              <a:rPr lang="en-US" sz="1600" dirty="0">
                <a:latin typeface="Times New Roman" panose="02020603050405020304" pitchFamily="18" charset="0"/>
                <a:cs typeface="Times New Roman" panose="02020603050405020304" pitchFamily="18" charset="0"/>
              </a:rPr>
              <a:t>Predictive and preventive, enabled through continuous monitoring and early fault identification.</a:t>
            </a:r>
          </a:p>
        </p:txBody>
      </p:sp>
      <p:sp>
        <p:nvSpPr>
          <p:cNvPr id="8" name="Text Box 7"/>
          <p:cNvSpPr txBox="1"/>
          <p:nvPr/>
        </p:nvSpPr>
        <p:spPr>
          <a:xfrm>
            <a:off x="421005" y="1276985"/>
            <a:ext cx="350964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sym typeface="+mn-ea"/>
              </a:rPr>
              <a:t>PROPOSED SYSTEM</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9209" y="1172817"/>
            <a:ext cx="4532242" cy="46037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  BLOCK DIAGRAM</a:t>
            </a:r>
          </a:p>
        </p:txBody>
      </p:sp>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diagram of a computer component&#10;&#10;AI-generated content may be incorrect.">
            <a:extLst>
              <a:ext uri="{FF2B5EF4-FFF2-40B4-BE49-F238E27FC236}">
                <a16:creationId xmlns:a16="http://schemas.microsoft.com/office/drawing/2014/main" id="{32C7B850-99FE-F297-FE63-1E34E5BB5D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7130" y="1898027"/>
            <a:ext cx="9002381" cy="4372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210" y="365125"/>
            <a:ext cx="10943590" cy="1325880"/>
          </a:xfrm>
        </p:spPr>
        <p:txBody>
          <a:bodyPr>
            <a:normAutofit/>
          </a:bodyPr>
          <a:lstStyle/>
          <a:p>
            <a:br>
              <a:rPr lang="en-US" sz="2400" b="1">
                <a:solidFill>
                  <a:srgbClr val="FF0000"/>
                </a:solidFill>
                <a:latin typeface="Times New Roman" panose="02020603050405020304" pitchFamily="18" charset="0"/>
                <a:cs typeface="Times New Roman" panose="02020603050405020304" pitchFamily="18" charset="0"/>
              </a:rPr>
            </a:br>
            <a:br>
              <a:rPr lang="en-US" sz="2400" b="1">
                <a:solidFill>
                  <a:srgbClr val="FF0000"/>
                </a:solidFill>
                <a:latin typeface="Times New Roman" panose="02020603050405020304" pitchFamily="18" charset="0"/>
                <a:cs typeface="Times New Roman" panose="02020603050405020304" pitchFamily="18" charset="0"/>
              </a:rPr>
            </a:br>
            <a:r>
              <a:rPr lang="en-US" sz="2400" b="1">
                <a:solidFill>
                  <a:srgbClr val="FF0000"/>
                </a:solidFill>
                <a:latin typeface="Times New Roman" panose="02020603050405020304" pitchFamily="18" charset="0"/>
                <a:cs typeface="Times New Roman" panose="02020603050405020304" pitchFamily="18" charset="0"/>
              </a:rPr>
              <a:t>FLOWCHART</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830" y="79514"/>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10" name="Content Placeholder 9" descr="A flowchart of a software system&#10;&#10;AI-generated content may be incorrect.">
            <a:extLst>
              <a:ext uri="{FF2B5EF4-FFF2-40B4-BE49-F238E27FC236}">
                <a16:creationId xmlns:a16="http://schemas.microsoft.com/office/drawing/2014/main" id="{15B84581-3785-16C3-1984-D76DE73C696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423160" y="1691005"/>
            <a:ext cx="6431280" cy="4485958"/>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69570" y="1111885"/>
            <a:ext cx="3317875" cy="513080"/>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  HARDWARE USED</a:t>
            </a:r>
          </a:p>
        </p:txBody>
      </p:sp>
      <p:sp>
        <p:nvSpPr>
          <p:cNvPr id="4" name="Text Box 3"/>
          <p:cNvSpPr txBox="1"/>
          <p:nvPr/>
        </p:nvSpPr>
        <p:spPr>
          <a:xfrm>
            <a:off x="268605" y="1804035"/>
            <a:ext cx="11923395" cy="4986655"/>
          </a:xfrm>
          <a:prstGeom prst="rect">
            <a:avLst/>
          </a:prstGeom>
          <a:noFill/>
        </p:spPr>
        <p:txBody>
          <a:bodyPr wrap="square" rtlCol="0">
            <a:noAutofit/>
          </a:bodyPr>
          <a:lstStyle/>
          <a:p>
            <a:pPr marL="285750" indent="-285750">
              <a:lnSpc>
                <a:spcPct val="15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Microcontroller (Arduino UNO)</a:t>
            </a:r>
            <a:r>
              <a:rPr lang="en-US" dirty="0">
                <a:latin typeface="Times New Roman" panose="02020603050405020304" pitchFamily="18" charset="0"/>
                <a:cs typeface="Times New Roman" panose="02020603050405020304" pitchFamily="18" charset="0"/>
              </a:rPr>
              <a:t> – Acts as the main control unit to monitor real-time current values from each load, process sensor data, compare it with preset threshold limits, and control relay switching operations.</a:t>
            </a:r>
          </a:p>
          <a:p>
            <a:pPr marL="285750" indent="-285750">
              <a:lnSpc>
                <a:spcPct val="15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Current Sensor (ACS712)</a:t>
            </a:r>
            <a:r>
              <a:rPr lang="en-US" dirty="0">
                <a:latin typeface="Times New Roman" panose="02020603050405020304" pitchFamily="18" charset="0"/>
                <a:cs typeface="Times New Roman" panose="02020603050405020304" pitchFamily="18" charset="0"/>
              </a:rPr>
              <a:t> – Measures the current drawn by each electrical load continuously and provides analog signals to the microcontroller for overload detection.</a:t>
            </a:r>
          </a:p>
          <a:p>
            <a:pPr marL="285750" indent="-285750">
              <a:lnSpc>
                <a:spcPct val="15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Relay Module</a:t>
            </a:r>
            <a:r>
              <a:rPr lang="en-US" dirty="0">
                <a:latin typeface="Times New Roman" panose="02020603050405020304" pitchFamily="18" charset="0"/>
                <a:cs typeface="Times New Roman" panose="02020603050405020304" pitchFamily="18" charset="0"/>
              </a:rPr>
              <a:t> – Used to selectively isolate overloaded or faulty electrical loads by switching the supply ON or OFF under microcontroller control.</a:t>
            </a:r>
          </a:p>
          <a:p>
            <a:pPr marL="285750" indent="-285750">
              <a:lnSpc>
                <a:spcPct val="15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ESP8266 Wi-Fi Module</a:t>
            </a:r>
            <a:r>
              <a:rPr lang="en-US" dirty="0">
                <a:latin typeface="Times New Roman" panose="02020603050405020304" pitchFamily="18" charset="0"/>
                <a:cs typeface="Times New Roman" panose="02020603050405020304" pitchFamily="18" charset="0"/>
              </a:rPr>
              <a:t> – Enables IoT-based remote monitoring by transmitting load parameters, system status, and overload alerts to the cloud platform.</a:t>
            </a:r>
          </a:p>
          <a:p>
            <a:pPr marL="285750" indent="-285750">
              <a:lnSpc>
                <a:spcPct val="15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Power Supply Unit (Step-Down Transformer, Rectifier &amp; Regulator)</a:t>
            </a:r>
            <a:r>
              <a:rPr lang="en-US" dirty="0">
                <a:latin typeface="Times New Roman" panose="02020603050405020304" pitchFamily="18" charset="0"/>
                <a:cs typeface="Times New Roman" panose="02020603050405020304" pitchFamily="18" charset="0"/>
              </a:rPr>
              <a:t> – Converts AC mains voltage (230V) to a regulated DC voltage suitable for powering the microcontroller, sensors, and relay circuit.</a:t>
            </a:r>
          </a:p>
          <a:p>
            <a:pPr marL="285750" indent="-285750">
              <a:lnSpc>
                <a:spcPct val="15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LCD Display (16×2)</a:t>
            </a:r>
            <a:r>
              <a:rPr lang="en-US" dirty="0">
                <a:latin typeface="Times New Roman" panose="02020603050405020304" pitchFamily="18" charset="0"/>
                <a:cs typeface="Times New Roman" panose="02020603050405020304" pitchFamily="18" charset="0"/>
              </a:rPr>
              <a:t> – Displays real-time current values and ON/OFF status of each electrical load for local monitoring.</a:t>
            </a:r>
          </a:p>
        </p:txBody>
      </p:sp>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75" y="68580"/>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845" y="1426845"/>
            <a:ext cx="3067050"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SOFTWARE USED</a:t>
            </a:r>
          </a:p>
        </p:txBody>
      </p:sp>
      <p:sp>
        <p:nvSpPr>
          <p:cNvPr id="5" name="Text Box 4"/>
          <p:cNvSpPr txBox="1"/>
          <p:nvPr/>
        </p:nvSpPr>
        <p:spPr>
          <a:xfrm>
            <a:off x="1069975" y="2141220"/>
            <a:ext cx="8507730" cy="1421992"/>
          </a:xfrm>
          <a:prstGeom prst="rect">
            <a:avLst/>
          </a:prstGeom>
          <a:noFill/>
        </p:spPr>
        <p:txBody>
          <a:bodyPr wrap="square" rtlCol="0">
            <a:spAutoFit/>
          </a:bodyPr>
          <a:lstStyle/>
          <a:p>
            <a:pPr marL="342900"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Blynk IoT Platform</a:t>
            </a:r>
            <a:r>
              <a:rPr lang="en-US" sz="2000" dirty="0">
                <a:latin typeface="Times New Roman" panose="02020603050405020304" pitchFamily="18" charset="0"/>
                <a:cs typeface="Times New Roman" panose="02020603050405020304" pitchFamily="18" charset="0"/>
              </a:rPr>
              <a:t> – The Blynk mobile application is used to create a real-time dashboard for monitoring current values, load status, and receiving overload alert notifications remotely.</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10845" y="1172845"/>
            <a:ext cx="3660140" cy="46037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SIMULATION RESULTS</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diagram of a circuit board&#10;&#10;AI-generated content may be incorrect.">
            <a:extLst>
              <a:ext uri="{FF2B5EF4-FFF2-40B4-BE49-F238E27FC236}">
                <a16:creationId xmlns:a16="http://schemas.microsoft.com/office/drawing/2014/main" id="{D47CB772-FD44-6867-B31F-48C36CABF7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99251" y="2087095"/>
            <a:ext cx="6853516" cy="402644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10845" y="1172845"/>
            <a:ext cx="4516755" cy="548005"/>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HARDWARE PROTOTYPE</a:t>
            </a:r>
          </a:p>
        </p:txBody>
      </p:sp>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53810"/>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circuit board with wires and lights&#10;&#10;AI-generated content may be incorrect.">
            <a:extLst>
              <a:ext uri="{FF2B5EF4-FFF2-40B4-BE49-F238E27FC236}">
                <a16:creationId xmlns:a16="http://schemas.microsoft.com/office/drawing/2014/main" id="{E4400DC1-0D6D-1A9F-6C2F-67F605FA41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66487" y="2453760"/>
            <a:ext cx="3937810" cy="2953357"/>
          </a:xfrm>
          <a:prstGeom prst="rect">
            <a:avLst/>
          </a:prstGeom>
        </p:spPr>
      </p:pic>
      <p:pic>
        <p:nvPicPr>
          <p:cNvPr id="10" name="Picture 9" descr="A group of electrical devices with wires and lights&#10;&#10;AI-generated content may be incorrect.">
            <a:extLst>
              <a:ext uri="{FF2B5EF4-FFF2-40B4-BE49-F238E27FC236}">
                <a16:creationId xmlns:a16="http://schemas.microsoft.com/office/drawing/2014/main" id="{03F20D3E-F346-C2B6-E113-BB42CD8FE8E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94812" y="2453760"/>
            <a:ext cx="4030701" cy="3023026"/>
          </a:xfrm>
          <a:prstGeom prst="rect">
            <a:avLst/>
          </a:prstGeom>
        </p:spPr>
      </p:pic>
      <p:sp>
        <p:nvSpPr>
          <p:cNvPr id="13" name="TextBox 12">
            <a:extLst>
              <a:ext uri="{FF2B5EF4-FFF2-40B4-BE49-F238E27FC236}">
                <a16:creationId xmlns:a16="http://schemas.microsoft.com/office/drawing/2014/main" id="{B61C43B8-71F2-9CC6-82D9-B5CFDD801F6C}"/>
              </a:ext>
            </a:extLst>
          </p:cNvPr>
          <p:cNvSpPr txBox="1"/>
          <p:nvPr/>
        </p:nvSpPr>
        <p:spPr>
          <a:xfrm>
            <a:off x="1119209" y="5555252"/>
            <a:ext cx="4232366" cy="584775"/>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The hardware platform in normal operating condition when all loads are active</a:t>
            </a:r>
            <a:endParaRPr lang="en-IN"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732706D-59BD-C1E6-C267-3367ADBA04B7}"/>
              </a:ext>
            </a:extLst>
          </p:cNvPr>
          <p:cNvSpPr txBox="1"/>
          <p:nvPr/>
        </p:nvSpPr>
        <p:spPr>
          <a:xfrm>
            <a:off x="6922231" y="5602982"/>
            <a:ext cx="4130239" cy="830997"/>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An overload-condition and selective tripping condition when Load 2 is turned off as it is overloaded</a:t>
            </a:r>
            <a:endParaRPr lang="en-IN"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75" y="68580"/>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510540" y="1388110"/>
            <a:ext cx="170751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RESULTS</a:t>
            </a:r>
          </a:p>
        </p:txBody>
      </p:sp>
      <p:sp>
        <p:nvSpPr>
          <p:cNvPr id="8" name="Text Box 7"/>
          <p:cNvSpPr txBox="1"/>
          <p:nvPr/>
        </p:nvSpPr>
        <p:spPr>
          <a:xfrm>
            <a:off x="1793875" y="5989320"/>
            <a:ext cx="8314055" cy="646331"/>
          </a:xfrm>
          <a:prstGeom prst="rect">
            <a:avLst/>
          </a:prstGeom>
          <a:noFill/>
        </p:spPr>
        <p:txBody>
          <a:bodyPr wrap="square" rtlCol="0">
            <a:spAutoFit/>
          </a:bodyPr>
          <a:lstStyle/>
          <a:p>
            <a:pPr algn="ctr"/>
            <a:r>
              <a:rPr lang="en-US" altLang="en-US" b="1" dirty="0"/>
              <a:t>                    </a:t>
            </a:r>
            <a:r>
              <a:rPr lang="en-US" altLang="en-US" b="1" dirty="0">
                <a:latin typeface="Times New Roman" panose="02020603050405020304" pitchFamily="18" charset="0"/>
                <a:cs typeface="Times New Roman" panose="02020603050405020304" pitchFamily="18" charset="0"/>
              </a:rPr>
              <a:t>  Result for intelligent management and control of electrical loads using a microcontroller Blynk</a:t>
            </a:r>
          </a:p>
        </p:txBody>
      </p:sp>
      <p:pic>
        <p:nvPicPr>
          <p:cNvPr id="9" name="Picture 8" descr="A screenshot of a phone&#10;&#10;AI-generated content may be incorrect.">
            <a:extLst>
              <a:ext uri="{FF2B5EF4-FFF2-40B4-BE49-F238E27FC236}">
                <a16:creationId xmlns:a16="http://schemas.microsoft.com/office/drawing/2014/main" id="{B9D29DBC-E053-8508-DAC2-7090559E3B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2960" y="1960711"/>
            <a:ext cx="3383280" cy="402860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75" y="68580"/>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638810" y="2021205"/>
            <a:ext cx="10619740" cy="4197559"/>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	The implemented intelligent load management system was tested under both normal and overload operating conditions to evaluate its performance and reliability. During normal operation, all electrical loads functioned within the predefined current limits, and the system continuously displayed real-time current values and load status on the LCD and IoT dashboard. When an overload condition was intentionally introduced to a specific load, the system successfully detected the abnormal rise in current using the current sensor and microcontroller-based threshold analysis. The affected load was selectively disconnected through the relay module, while other loads continued to operate without </a:t>
            </a:r>
            <a:r>
              <a:rPr lang="en-US" dirty="0" err="1">
                <a:latin typeface="Times New Roman" panose="02020603050405020304" pitchFamily="18" charset="0"/>
                <a:cs typeface="Times New Roman" panose="02020603050405020304" pitchFamily="18" charset="0"/>
              </a:rPr>
              <a:t>interruption.The</a:t>
            </a:r>
            <a:r>
              <a:rPr lang="en-US" dirty="0">
                <a:latin typeface="Times New Roman" panose="02020603050405020304" pitchFamily="18" charset="0"/>
                <a:cs typeface="Times New Roman" panose="02020603050405020304" pitchFamily="18" charset="0"/>
              </a:rPr>
              <a:t> integration of IoT enabled real-time remote monitoring and alert notifications, improving user awareness and enabling faster response to fault conditions. Overall, the results demonstrate improved safety, faster fault detection, higher energy efficiency, and reliable operation, validating the effectiveness of the proposed intelligent load management system.</a:t>
            </a:r>
          </a:p>
        </p:txBody>
      </p:sp>
      <p:sp>
        <p:nvSpPr>
          <p:cNvPr id="4" name="Text Box 3"/>
          <p:cNvSpPr txBox="1"/>
          <p:nvPr/>
        </p:nvSpPr>
        <p:spPr>
          <a:xfrm>
            <a:off x="501015" y="1214755"/>
            <a:ext cx="244030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sym typeface="+mn-ea"/>
              </a:rPr>
              <a:t> DISCUSSION</a:t>
            </a:r>
            <a:endParaRPr lang="en-US" sz="24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91490" y="1339850"/>
            <a:ext cx="260413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APPLICATIONS</a:t>
            </a:r>
          </a:p>
        </p:txBody>
      </p:sp>
      <p:sp>
        <p:nvSpPr>
          <p:cNvPr id="5" name="Text Box 4"/>
          <p:cNvSpPr txBox="1"/>
          <p:nvPr/>
        </p:nvSpPr>
        <p:spPr>
          <a:xfrm>
            <a:off x="1918970" y="2094230"/>
            <a:ext cx="5629910" cy="212006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Smart home electrical load monitoring and control</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Commercial buildings and office power management</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Small-scale industrial load protection systems</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Laboratories and educational institutions</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Energy-efficient electrical distribution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04495" y="1398270"/>
            <a:ext cx="266255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ADVANTAGES</a:t>
            </a:r>
          </a:p>
        </p:txBody>
      </p:sp>
      <p:sp>
        <p:nvSpPr>
          <p:cNvPr id="5" name="Text Box 4"/>
          <p:cNvSpPr txBox="1"/>
          <p:nvPr/>
        </p:nvSpPr>
        <p:spPr>
          <a:xfrm>
            <a:off x="1823085" y="1828165"/>
            <a:ext cx="8662035" cy="170456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Selective isolation of faulty loads without shutting down the entire system</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Real-time monitoring and faster fault detection</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Reduced power wastage and improved energy efficiency</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IoT-based remote monitoring and alert notifications</a:t>
            </a:r>
          </a:p>
        </p:txBody>
      </p:sp>
      <p:sp>
        <p:nvSpPr>
          <p:cNvPr id="7" name="Text Box 6"/>
          <p:cNvSpPr txBox="1"/>
          <p:nvPr/>
        </p:nvSpPr>
        <p:spPr>
          <a:xfrm>
            <a:off x="410210" y="3762375"/>
            <a:ext cx="2343150" cy="895985"/>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LIMITATIONS</a:t>
            </a:r>
          </a:p>
        </p:txBody>
      </p:sp>
      <p:sp>
        <p:nvSpPr>
          <p:cNvPr id="8" name="Text Box 7"/>
          <p:cNvSpPr txBox="1"/>
          <p:nvPr/>
        </p:nvSpPr>
        <p:spPr>
          <a:xfrm>
            <a:off x="1823085" y="4304030"/>
            <a:ext cx="8286750" cy="2553970"/>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Depends on stable internet connectivity for IoT features</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Limited to predefined current threshold settings</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Suitable mainly for low- and medium-power applications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521" y="799318"/>
            <a:ext cx="10515600" cy="1325563"/>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PROJECT OUTCOME</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53810"/>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10" name="Content Placeholder 9" descr="A close-up of a letter&#10;&#10;AI-generated content may be incorrect.">
            <a:extLst>
              <a:ext uri="{FF2B5EF4-FFF2-40B4-BE49-F238E27FC236}">
                <a16:creationId xmlns:a16="http://schemas.microsoft.com/office/drawing/2014/main" id="{9C7BB730-7BBE-533D-8F48-D11C0F9C16F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3718560" y="1825625"/>
            <a:ext cx="4541520" cy="4351338"/>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53810"/>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collage of several certificates&#10;&#10;AI-generated content may be incorrect.">
            <a:extLst>
              <a:ext uri="{FF2B5EF4-FFF2-40B4-BE49-F238E27FC236}">
                <a16:creationId xmlns:a16="http://schemas.microsoft.com/office/drawing/2014/main" id="{88B18965-8F6D-0DF0-AC32-96C9AD52F13A}"/>
              </a:ext>
            </a:extLst>
          </p:cNvPr>
          <p:cNvPicPr>
            <a:picLocks noChangeAspect="1"/>
          </p:cNvPicPr>
          <p:nvPr/>
        </p:nvPicPr>
        <p:blipFill>
          <a:blip r:embed="rId5">
            <a:extLst>
              <a:ext uri="{28A0092B-C50C-407E-A947-70E740481C1C}">
                <a14:useLocalDpi xmlns:a14="http://schemas.microsoft.com/office/drawing/2010/main" val="0"/>
              </a:ext>
            </a:extLst>
          </a:blip>
          <a:srcRect l="1221" t="4036" b="3081"/>
          <a:stretch>
            <a:fillRect/>
          </a:stretch>
        </p:blipFill>
        <p:spPr>
          <a:xfrm>
            <a:off x="1977578" y="1065792"/>
            <a:ext cx="7968680" cy="56094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53810"/>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375920" y="1359535"/>
            <a:ext cx="2757170"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FUTURE SCOPE</a:t>
            </a:r>
          </a:p>
        </p:txBody>
      </p:sp>
      <p:sp>
        <p:nvSpPr>
          <p:cNvPr id="3" name="Text Box 2"/>
          <p:cNvSpPr txBox="1"/>
          <p:nvPr/>
        </p:nvSpPr>
        <p:spPr>
          <a:xfrm>
            <a:off x="1022350" y="2237105"/>
            <a:ext cx="9944100" cy="2999740"/>
          </a:xfrm>
          <a:prstGeom prst="rect">
            <a:avLst/>
          </a:prstGeom>
          <a:noFill/>
        </p:spPr>
        <p:txBody>
          <a:bodyPr wrap="square" rtlCol="0">
            <a:spAutoFit/>
          </a:bodyPr>
          <a:lstStyle/>
          <a:p>
            <a:pPr indent="457200" algn="just">
              <a:lnSpc>
                <a:spcPct val="150000"/>
              </a:lnSpc>
            </a:pPr>
            <a:r>
              <a:rPr lang="en-US" dirty="0">
                <a:latin typeface="Times New Roman" panose="02020603050405020304" pitchFamily="18" charset="0"/>
                <a:cs typeface="Times New Roman" panose="02020603050405020304" pitchFamily="18" charset="0"/>
              </a:rPr>
              <a:t>The future scope of this project includes enhancing the system with predictive fault detection techniques using advanced data analytics or machine learning to identify potential failures at an early stage. The system can be extended to support higher power ratings and three-phase electrical systems for industrial applications. Cloud-based data storage and analysis can be implemented to study long-term energy consumption patterns and optimize load usage. Integration with smart meters and smart grid infrastructure will further improve energy management capabilities. Additionally, developing a dedicated web or mobile application can provide advanced monitoring, control, and user interaction features.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453515"/>
            <a:ext cx="11304905" cy="4480073"/>
          </a:xfrm>
          <a:prstGeom prst="rect">
            <a:avLst/>
          </a:prstGeom>
          <a:noFill/>
        </p:spPr>
        <p:txBody>
          <a:bodyPr wrap="square">
            <a:spAutoFit/>
          </a:bodyPr>
          <a:lstStyle/>
          <a:p>
            <a:pPr>
              <a:lnSpc>
                <a:spcPct val="20000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CONCLUSION</a:t>
            </a:r>
            <a:endParaRPr lang="en-US" sz="32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a:p>
            <a:pPr>
              <a:lnSpc>
                <a:spcPct val="150000"/>
              </a:lnSpc>
            </a:pPr>
            <a:r>
              <a:rPr lang="en-US" dirty="0">
                <a:latin typeface="Times New Roman" panose="02020603050405020304" pitchFamily="18" charset="0"/>
                <a:cs typeface="Times New Roman" panose="02020603050405020304" pitchFamily="18" charset="0"/>
              </a:rPr>
              <a:t>	The intelligent management and control of electrical loads using a microcontroller provides an effective solution to the limitations of conventional protection systems. By continuously monitoring current values and selectively isolating only the faulty load, the system ensures uninterrupted power supply to healthy loads while improving electrical safety and reliability. The integration of IoT enables real-time monitoring and alert notifications, enhancing user awareness and control. Experimental results demonstrate improved response time, reduced power interruptions, and better energy efficiency. Overall, the proposed system is cost-effective, scalable, and well suited for residential, commercial, and small-scale industrial applications.</a:t>
            </a:r>
          </a:p>
          <a:p>
            <a:pPr algn="just">
              <a:lnSpc>
                <a:spcPct val="150000"/>
              </a:lnSpc>
            </a:pPr>
            <a:endParaRPr lang="en-US"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a:p>
            <a:pPr>
              <a:lnSpc>
                <a:spcPct val="150000"/>
              </a:lnSpc>
            </a:pPr>
            <a:endParaRPr lang="en-US" sz="16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pic>
        <p:nvPicPr>
          <p:cNvPr id="3"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803910"/>
            <a:ext cx="2409190" cy="1430020"/>
          </a:xfrm>
          <a:prstGeom prst="rect">
            <a:avLst/>
          </a:prstGeom>
          <a:noFill/>
        </p:spPr>
        <p:txBody>
          <a:bodyPr wrap="square">
            <a:no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REFERENCES</a:t>
            </a:r>
          </a:p>
          <a:p>
            <a:pPr>
              <a:lnSpc>
                <a:spcPts val="7940"/>
              </a:lnSpc>
            </a:pPr>
            <a:endPar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Rectangle 1"/>
          <p:cNvSpPr>
            <a:spLocks noChangeArrowheads="1"/>
          </p:cNvSpPr>
          <p:nvPr/>
        </p:nvSpPr>
        <p:spPr bwMode="auto">
          <a:xfrm rot="10800000" flipV="1">
            <a:off x="530225" y="2109470"/>
            <a:ext cx="10826750" cy="43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indent="0" algn="just" defTabSz="914400" rtl="0" eaLnBrk="0" fontAlgn="base" latinLnBrk="0" hangingPunct="0">
              <a:lnSpc>
                <a:spcPct val="150000"/>
              </a:lnSpc>
              <a:spcBef>
                <a:spcPct val="0"/>
              </a:spcBef>
              <a:spcAft>
                <a:spcPct val="0"/>
              </a:spcAft>
              <a:buClrTx/>
              <a:buSzTx/>
              <a:buFont typeface="Wingdings" panose="05000000000000000000" pitchFamily="2" charset="2"/>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rot="10800000" flipV="1">
            <a:off x="530860" y="2110105"/>
            <a:ext cx="11039475" cy="39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indent="0" algn="just" defTabSz="914400" rtl="0" eaLnBrk="0" fontAlgn="base" latinLnBrk="0" hangingPunct="0">
              <a:lnSpc>
                <a:spcPct val="150000"/>
              </a:lnSpc>
              <a:spcBef>
                <a:spcPct val="0"/>
              </a:spcBef>
              <a:spcAft>
                <a:spcPct val="0"/>
              </a:spcAft>
              <a:buClrTx/>
              <a:buSzTx/>
              <a:buFont typeface="Wingdings" panose="05000000000000000000" pitchFamily="2" charset="2"/>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 Box 6"/>
          <p:cNvSpPr txBox="1"/>
          <p:nvPr/>
        </p:nvSpPr>
        <p:spPr>
          <a:xfrm>
            <a:off x="531495" y="1919605"/>
            <a:ext cx="11397615" cy="4707255"/>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D. C. Teja, M. B. N. Rao and G. D, "IoT-Enabled Smart Home Management System Featuring Fault Detection and Remote Monitoring," 2025 International Conference on Computing and Communication Technologies (ICCCT), Chennai, India, 2025, pp. 1-6,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10.1109/ICCCT63501.2025.11019690. </a:t>
            </a:r>
          </a:p>
          <a:p>
            <a:pPr marL="285750" indent="-28575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R. Islam, N. Tabassum, T. Islam, M. Hassan, N. Goswami and A. H. </a:t>
            </a:r>
            <a:r>
              <a:rPr lang="en-IN" sz="1600" dirty="0" err="1">
                <a:latin typeface="Times New Roman" panose="02020603050405020304" pitchFamily="18" charset="0"/>
                <a:cs typeface="Times New Roman" panose="02020603050405020304" pitchFamily="18" charset="0"/>
              </a:rPr>
              <a:t>Shatil</a:t>
            </a:r>
            <a:r>
              <a:rPr lang="en-IN" sz="1600" dirty="0">
                <a:latin typeface="Times New Roman" panose="02020603050405020304" pitchFamily="18" charset="0"/>
                <a:cs typeface="Times New Roman" panose="02020603050405020304" pitchFamily="18" charset="0"/>
              </a:rPr>
              <a:t>, "Design and Development of a Smart Billing Meter for Load Management and Tampering Alerts," 2024 IEEE International Conference on Power, Electrical, Electronics and Industrial Applications Bangladesh, 2024, (PEEIACON), </a:t>
            </a:r>
            <a:r>
              <a:rPr lang="en-IN" sz="1600" dirty="0" err="1">
                <a:latin typeface="Times New Roman" panose="02020603050405020304" pitchFamily="18" charset="0"/>
                <a:cs typeface="Times New Roman" panose="02020603050405020304" pitchFamily="18" charset="0"/>
              </a:rPr>
              <a:t>Rajshahi</a:t>
            </a:r>
            <a:r>
              <a:rPr lang="en-IN" sz="1600" dirty="0">
                <a:latin typeface="Times New Roman" panose="02020603050405020304" pitchFamily="18" charset="0"/>
                <a:cs typeface="Times New Roman" panose="02020603050405020304" pitchFamily="18" charset="0"/>
              </a:rPr>
              <a:t>, pp. 479-483,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10.1109/PEEIACON63629.2024.10800486. </a:t>
            </a:r>
          </a:p>
          <a:p>
            <a:pPr marL="285750" indent="-28575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 R. Ayodele, A. S. O. </a:t>
            </a:r>
            <a:r>
              <a:rPr lang="en-IN" sz="1600" dirty="0" err="1">
                <a:latin typeface="Times New Roman" panose="02020603050405020304" pitchFamily="18" charset="0"/>
                <a:cs typeface="Times New Roman" panose="02020603050405020304" pitchFamily="18" charset="0"/>
              </a:rPr>
              <a:t>Ogunjuyigbe</a:t>
            </a:r>
            <a:r>
              <a:rPr lang="en-IN" sz="1600" dirty="0">
                <a:latin typeface="Times New Roman" panose="02020603050405020304" pitchFamily="18" charset="0"/>
                <a:cs typeface="Times New Roman" panose="02020603050405020304" pitchFamily="18" charset="0"/>
              </a:rPr>
              <a:t>, C. L. </a:t>
            </a:r>
            <a:r>
              <a:rPr lang="en-IN" sz="1600" dirty="0" err="1">
                <a:latin typeface="Times New Roman" panose="02020603050405020304" pitchFamily="18" charset="0"/>
                <a:cs typeface="Times New Roman" panose="02020603050405020304" pitchFamily="18" charset="0"/>
              </a:rPr>
              <a:t>Enwere</a:t>
            </a:r>
            <a:r>
              <a:rPr lang="en-IN" sz="1600" dirty="0">
                <a:latin typeface="Times New Roman" panose="02020603050405020304" pitchFamily="18" charset="0"/>
                <a:cs typeface="Times New Roman" panose="02020603050405020304" pitchFamily="18" charset="0"/>
              </a:rPr>
              <a:t>, T. C. </a:t>
            </a:r>
            <a:r>
              <a:rPr lang="en-IN" sz="1600" dirty="0" err="1">
                <a:latin typeface="Times New Roman" panose="02020603050405020304" pitchFamily="18" charset="0"/>
                <a:cs typeface="Times New Roman" panose="02020603050405020304" pitchFamily="18" charset="0"/>
              </a:rPr>
              <a:t>Mosetlhe</a:t>
            </a:r>
            <a:r>
              <a:rPr lang="en-IN" sz="1600" dirty="0">
                <a:latin typeface="Times New Roman" panose="02020603050405020304" pitchFamily="18" charset="0"/>
                <a:cs typeface="Times New Roman" panose="02020603050405020304" pitchFamily="18" charset="0"/>
              </a:rPr>
              <a:t> and A. A. Yusuff, "Development of A User-Enabled Load Manager for Electrical Appliances," 2022 IEEE PES/IAS </a:t>
            </a:r>
            <a:r>
              <a:rPr lang="en-IN" sz="1600" dirty="0" err="1">
                <a:latin typeface="Times New Roman" panose="02020603050405020304" pitchFamily="18" charset="0"/>
                <a:cs typeface="Times New Roman" panose="02020603050405020304" pitchFamily="18" charset="0"/>
              </a:rPr>
              <a:t>PowerAfrica</a:t>
            </a:r>
            <a:r>
              <a:rPr lang="en-IN" sz="1600" dirty="0">
                <a:latin typeface="Times New Roman" panose="02020603050405020304" pitchFamily="18" charset="0"/>
                <a:cs typeface="Times New Roman" panose="02020603050405020304" pitchFamily="18" charset="0"/>
              </a:rPr>
              <a:t>, Kigali, Rwanda, 2022, pp. 1-5,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10.1109/PowerAfrica53997.2022.9905403. </a:t>
            </a:r>
          </a:p>
          <a:p>
            <a:pPr marL="285750" indent="-28575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R. S. Vignesh, P. Vinayagam, S. Gomathi, S. J. </a:t>
            </a:r>
            <a:r>
              <a:rPr lang="en-IN" sz="1600" dirty="0" err="1">
                <a:latin typeface="Times New Roman" panose="02020603050405020304" pitchFamily="18" charset="0"/>
                <a:cs typeface="Times New Roman" panose="02020603050405020304" pitchFamily="18" charset="0"/>
              </a:rPr>
              <a:t>Rubavathy</a:t>
            </a:r>
            <a:r>
              <a:rPr lang="en-IN" sz="1600" dirty="0">
                <a:latin typeface="Times New Roman" panose="02020603050405020304" pitchFamily="18" charset="0"/>
                <a:cs typeface="Times New Roman" panose="02020603050405020304" pitchFamily="18" charset="0"/>
              </a:rPr>
              <a:t>, Indumathi and T. Muthamizhan, "GSM Based Electrical Load Control System for Home Applications," 2022 International Conference on Computer, Power and Communications (ICCPC), Chennai, India, 2022, pp. 10.1109/ICCPC55978.2022.10072210. 640-645</a:t>
            </a:r>
            <a:endParaRPr lang="en-US" altLang="en-US" sz="1600" dirty="0">
              <a:latin typeface="Times New Roman" panose="02020603050405020304" pitchFamily="18" charset="0"/>
              <a:cs typeface="Times New Roman" panose="02020603050405020304" pitchFamily="18" charset="0"/>
            </a:endParaRPr>
          </a:p>
        </p:txBody>
      </p:sp>
      <p:pic>
        <p:nvPicPr>
          <p:cNvPr id="8"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39*354"/>
  <p:tag name="TABLE_ENDDRAG_RECT" val="60*154*839*3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1961</Words>
  <Application>Microsoft Office PowerPoint</Application>
  <PresentationFormat>Widescreen</PresentationFormat>
  <Paragraphs>116</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Courier New</vt:lpstr>
      <vt:lpstr>League Spartan</vt:lpstr>
      <vt:lpstr>Times New Roman</vt:lpstr>
      <vt:lpstr>Wingdings</vt:lpstr>
      <vt:lpstr>Office Theme</vt:lpstr>
      <vt:lpstr>PowerPoint Presentation</vt:lpstr>
      <vt:lpstr>INTRODUCTION</vt:lpstr>
      <vt:lpstr>   OBJECTIVE </vt:lpstr>
      <vt:lpstr>  SCOPE OF THE PROJECT</vt:lpstr>
      <vt:lpstr>PowerPoint Presentation</vt:lpstr>
      <vt:lpstr>PowerPoint Presentation</vt:lpstr>
      <vt:lpstr>PowerPoint Presentation</vt:lpstr>
      <vt:lpstr>PowerPoint Presentation</vt:lpstr>
      <vt:lpstr>PowerPoint Presentation</vt:lpstr>
      <vt:lpstr>  FLOWCHART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OUTCOME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Dr.D. Mercy</dc:creator>
  <cp:lastModifiedBy>Durkasri Nanban</cp:lastModifiedBy>
  <cp:revision>27</cp:revision>
  <dcterms:created xsi:type="dcterms:W3CDTF">2025-08-26T04:28:00Z</dcterms:created>
  <dcterms:modified xsi:type="dcterms:W3CDTF">2025-12-18T06:35:53Z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88D9EEBF520146BCB26A52DB7B39B592_13</vt:lpwstr>
  </property>
  <property fmtid="{D5CDD505-2E9C-101B-9397-08002B2CF9AE}" pid="3" name="KSOProductBuildVer">
    <vt:lpwstr>1033-12.2.0.23155</vt:lpwstr>
  </property>
</Properties>
</file>